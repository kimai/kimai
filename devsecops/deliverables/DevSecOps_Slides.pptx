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Introduce yourself, the application and why DevSecOps. Point at the four stats: they frame the whole talk. ~1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DEMO: open the Actions page with the green run; expand each stage. Show .github/workflows/devsecops.yml briefly. ~2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DEMO: run vendor/bin/phpunit --group security tests/SecurityTesting/ live. Open one test class and explain a WSTG mapping (e.g. IDOR on timesheets). ~2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DEMO: run the semgrep scan and composer audit live. Explain gating vs audit with the upstream Dockerfile example - audit findings need triage, not automatic build failure. ~2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DEMO: docker compose ps with three healthy containers, browse https://localhost:8443 (self-signed cert decision). Run deploy.sh if time allows. ~2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DEMO: run both validation scripts live; open the ZAP baseline report. ~1.5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 the advisory (redacted), the 403/200 reproduction difference, and the fix PR. Emphasize the private disclosure process. ~1.5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DEMO: show the notification issue and its deduplication comment (from the break-demo), then the reuse evidence. ~1.5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with the maintenance guide summary and the green run. Q&amp;A pointer. ~1.5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F2A44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572000"/>
            <a:ext cx="12192000" cy="54864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00584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spc="400" kern="0" dirty="0">
                <a:solidFill>
                  <a:srgbClr val="C9A227"/>
                </a:solidFill>
              </a:rPr>
              <a:t>AUTOMATED CYBERSECURITY TESTING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1417320"/>
            <a:ext cx="10698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</a:rPr>
              <a:t>DevSecOps Integration for Kimai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731520" y="2697480"/>
            <a:ext cx="9692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8DCE4"/>
                </a:solidFill>
              </a:rPr>
              <a:t>An on-premise security pipeline: OWASP WSTG-mapped tests, scanners, hardened deployment, DAST and developer notification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2103120" cy="155448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25400">
            <a:solidFill>
              <a:srgbClr val="3A7D4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3767328"/>
            <a:ext cx="2103120" cy="85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3A7D44"/>
                </a:solidFill>
              </a:rPr>
              <a:t>32</a:t>
            </a:r>
            <a:endParaRPr lang="en-US" sz="3600" dirty="0"/>
          </a:p>
        </p:txBody>
      </p:sp>
      <p:sp>
        <p:nvSpPr>
          <p:cNvPr id="9" name="Text 7"/>
          <p:cNvSpPr/>
          <p:nvPr/>
        </p:nvSpPr>
        <p:spPr>
          <a:xfrm>
            <a:off x="804672" y="4621378"/>
            <a:ext cx="1956816" cy="5285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32A33"/>
                </a:solidFill>
              </a:rPr>
              <a:t>OWASP WSTG tests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063240" y="3657600"/>
            <a:ext cx="2103120" cy="155448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25400">
            <a:solidFill>
              <a:srgbClr val="5D6B7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063240" y="3767328"/>
            <a:ext cx="2103120" cy="85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5D6B7A"/>
                </a:solidFill>
              </a:rPr>
              <a:t>5</a:t>
            </a:r>
            <a:endParaRPr lang="en-US" sz="3600" dirty="0"/>
          </a:p>
        </p:txBody>
      </p:sp>
      <p:sp>
        <p:nvSpPr>
          <p:cNvPr id="12" name="Text 10"/>
          <p:cNvSpPr/>
          <p:nvPr/>
        </p:nvSpPr>
        <p:spPr>
          <a:xfrm>
            <a:off x="3136392" y="4621378"/>
            <a:ext cx="1956816" cy="5285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32A33"/>
                </a:solidFill>
              </a:rPr>
              <a:t>pipeline stages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394960" y="3657600"/>
            <a:ext cx="2103120" cy="155448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25400">
            <a:solidFill>
              <a:srgbClr val="9E2B2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394960" y="3767328"/>
            <a:ext cx="2103120" cy="85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E2B25"/>
                </a:solidFill>
              </a:rPr>
              <a:t>1</a:t>
            </a:r>
            <a:endParaRPr lang="en-US" sz="3600" dirty="0"/>
          </a:p>
        </p:txBody>
      </p:sp>
      <p:sp>
        <p:nvSpPr>
          <p:cNvPr id="15" name="Text 13"/>
          <p:cNvSpPr/>
          <p:nvPr/>
        </p:nvSpPr>
        <p:spPr>
          <a:xfrm>
            <a:off x="5468112" y="4621378"/>
            <a:ext cx="1956816" cy="5285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32A33"/>
                </a:solidFill>
              </a:rPr>
              <a:t>triaged security bug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7726680" y="3657600"/>
            <a:ext cx="2103120" cy="155448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726680" y="3767328"/>
            <a:ext cx="2103120" cy="85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0</a:t>
            </a:r>
            <a:endParaRPr lang="en-US" sz="3600" dirty="0"/>
          </a:p>
        </p:txBody>
      </p:sp>
      <p:sp>
        <p:nvSpPr>
          <p:cNvPr id="18" name="Text 16"/>
          <p:cNvSpPr/>
          <p:nvPr/>
        </p:nvSpPr>
        <p:spPr>
          <a:xfrm>
            <a:off x="7799832" y="4621378"/>
            <a:ext cx="1956816" cy="5285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32A33"/>
                </a:solidFill>
              </a:rPr>
              <a:t>cloud resources used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731520" y="55778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&lt;Your name&gt;  |  &lt;course&gt;  |  &lt;date&gt;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731520" y="598932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8DCE4"/>
                </a:solidFill>
              </a:rPr>
              <a:t>Kimai - open-source time tracking (Symfony 6.4 / PHP, Doctrine, Twig, JSON API)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6F3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2000" cy="1051560"/>
          </a:xfrm>
          <a:prstGeom prst="rect">
            <a:avLst/>
          </a:prstGeom>
          <a:solidFill>
            <a:srgbClr val="33415C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1051560"/>
            <a:ext cx="12192000" cy="45720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146304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</a:rPr>
              <a:t>Pipeline Architecture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530352" y="749808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8DCE4"/>
                </a:solidFill>
              </a:rPr>
              <a:t>GitHub Actions on a self-hosted runner - no cloud deployment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02920" y="1554480"/>
            <a:ext cx="2148840" cy="1737360"/>
          </a:xfrm>
          <a:prstGeom prst="roundRect">
            <a:avLst>
              <a:gd name="adj" fmla="val 6316"/>
            </a:avLst>
          </a:prstGeom>
          <a:solidFill>
            <a:srgbClr val="33415C"/>
          </a:solidFill>
          <a:ln/>
        </p:spPr>
      </p:sp>
      <p:sp>
        <p:nvSpPr>
          <p:cNvPr id="8" name="Text 6"/>
          <p:cNvSpPr/>
          <p:nvPr/>
        </p:nvSpPr>
        <p:spPr>
          <a:xfrm>
            <a:off x="612648" y="1691640"/>
            <a:ext cx="19293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SAST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12648" y="2103120"/>
            <a:ext cx="192938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8DCE4"/>
                </a:solidFill>
              </a:rPr>
              <a:t>PHPStan L9 | PhpCsFixer | Semgrep (gating + audit) | SonarQube*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2651760" y="2240280"/>
            <a:ext cx="256032" cy="365760"/>
          </a:xfrm>
          <a:prstGeom prst="rightArrow">
            <a:avLst/>
          </a:prstGeom>
          <a:solidFill>
            <a:srgbClr val="5D6B7A"/>
          </a:solidFill>
          <a:ln/>
        </p:spPr>
      </p:sp>
      <p:sp>
        <p:nvSpPr>
          <p:cNvPr id="11" name="Shape 9"/>
          <p:cNvSpPr/>
          <p:nvPr/>
        </p:nvSpPr>
        <p:spPr>
          <a:xfrm>
            <a:off x="2907792" y="1554480"/>
            <a:ext cx="2148840" cy="1737360"/>
          </a:xfrm>
          <a:prstGeom prst="roundRect">
            <a:avLst>
              <a:gd name="adj" fmla="val 6316"/>
            </a:avLst>
          </a:prstGeom>
          <a:solidFill>
            <a:srgbClr val="33415C"/>
          </a:solidFill>
          <a:ln/>
        </p:spPr>
      </p:sp>
      <p:sp>
        <p:nvSpPr>
          <p:cNvPr id="12" name="Text 10"/>
          <p:cNvSpPr/>
          <p:nvPr/>
        </p:nvSpPr>
        <p:spPr>
          <a:xfrm>
            <a:off x="3017520" y="1691640"/>
            <a:ext cx="19293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SCA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017520" y="2103120"/>
            <a:ext cx="192938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8DCE4"/>
                </a:solidFill>
              </a:rPr>
              <a:t>composer audit | pnpm audit | Trivy | Dependency-Check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5056632" y="2240280"/>
            <a:ext cx="256032" cy="365760"/>
          </a:xfrm>
          <a:prstGeom prst="rightArrow">
            <a:avLst/>
          </a:prstGeom>
          <a:solidFill>
            <a:srgbClr val="5D6B7A"/>
          </a:solidFill>
          <a:ln/>
        </p:spPr>
      </p:sp>
      <p:sp>
        <p:nvSpPr>
          <p:cNvPr id="15" name="Shape 13"/>
          <p:cNvSpPr/>
          <p:nvPr/>
        </p:nvSpPr>
        <p:spPr>
          <a:xfrm>
            <a:off x="5312664" y="1554480"/>
            <a:ext cx="2148840" cy="1737360"/>
          </a:xfrm>
          <a:prstGeom prst="roundRect">
            <a:avLst>
              <a:gd name="adj" fmla="val 6316"/>
            </a:avLst>
          </a:prstGeom>
          <a:solidFill>
            <a:srgbClr val="33415C"/>
          </a:solidFill>
          <a:ln/>
        </p:spPr>
      </p:sp>
      <p:sp>
        <p:nvSpPr>
          <p:cNvPr id="16" name="Text 14"/>
          <p:cNvSpPr/>
          <p:nvPr/>
        </p:nvSpPr>
        <p:spPr>
          <a:xfrm>
            <a:off x="5422392" y="1691640"/>
            <a:ext cx="19293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SECURITY TESTS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5422392" y="2103120"/>
            <a:ext cx="192938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8DCE4"/>
                </a:solidFill>
              </a:rPr>
              <a:t>32 OWASP WSTG tests + existing security suites (MariaDB svc)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7461504" y="2240280"/>
            <a:ext cx="256032" cy="365760"/>
          </a:xfrm>
          <a:prstGeom prst="rightArrow">
            <a:avLst/>
          </a:prstGeom>
          <a:solidFill>
            <a:srgbClr val="5D6B7A"/>
          </a:solidFill>
          <a:ln/>
        </p:spPr>
      </p:sp>
      <p:sp>
        <p:nvSpPr>
          <p:cNvPr id="19" name="Shape 17"/>
          <p:cNvSpPr/>
          <p:nvPr/>
        </p:nvSpPr>
        <p:spPr>
          <a:xfrm>
            <a:off x="7717536" y="1554480"/>
            <a:ext cx="2148840" cy="1737360"/>
          </a:xfrm>
          <a:prstGeom prst="roundRect">
            <a:avLst>
              <a:gd name="adj" fmla="val 6316"/>
            </a:avLst>
          </a:prstGeom>
          <a:solidFill>
            <a:srgbClr val="33415C"/>
          </a:solidFill>
          <a:ln/>
        </p:spPr>
      </p:sp>
      <p:sp>
        <p:nvSpPr>
          <p:cNvPr id="20" name="Text 18"/>
          <p:cNvSpPr/>
          <p:nvPr/>
        </p:nvSpPr>
        <p:spPr>
          <a:xfrm>
            <a:off x="7827264" y="1691640"/>
            <a:ext cx="19293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DEPLOY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7827264" y="2103120"/>
            <a:ext cx="192938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8DCE4"/>
                </a:solidFill>
              </a:rPr>
              <a:t>hardened build | compose | Trivy image | smoke | audit | ZAP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9866376" y="2240280"/>
            <a:ext cx="256032" cy="365760"/>
          </a:xfrm>
          <a:prstGeom prst="rightArrow">
            <a:avLst/>
          </a:prstGeom>
          <a:solidFill>
            <a:srgbClr val="5D6B7A"/>
          </a:solidFill>
          <a:ln/>
        </p:spPr>
      </p:sp>
      <p:sp>
        <p:nvSpPr>
          <p:cNvPr id="23" name="Shape 21"/>
          <p:cNvSpPr/>
          <p:nvPr/>
        </p:nvSpPr>
        <p:spPr>
          <a:xfrm>
            <a:off x="10122408" y="1554480"/>
            <a:ext cx="2148840" cy="1737360"/>
          </a:xfrm>
          <a:prstGeom prst="roundRect">
            <a:avLst>
              <a:gd name="adj" fmla="val 6316"/>
            </a:avLst>
          </a:prstGeom>
          <a:solidFill>
            <a:srgbClr val="33415C"/>
          </a:solidFill>
          <a:ln/>
        </p:spPr>
      </p:sp>
      <p:sp>
        <p:nvSpPr>
          <p:cNvPr id="24" name="Text 22"/>
          <p:cNvSpPr/>
          <p:nvPr/>
        </p:nvSpPr>
        <p:spPr>
          <a:xfrm>
            <a:off x="10232136" y="1691640"/>
            <a:ext cx="19293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NOTIFY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10232136" y="2103120"/>
            <a:ext cx="192938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8DCE4"/>
                </a:solidFill>
              </a:rPr>
              <a:t>de-duplicated GitHub issue + optional webhook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502920" y="35204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32A33"/>
                </a:solidFill>
              </a:rPr>
              <a:t>Concurrency-controlled, actions pinned by SHA, zizmor-scanned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502920" y="3977640"/>
            <a:ext cx="6766560" cy="2377440"/>
          </a:xfrm>
          <a:prstGeom prst="rect">
            <a:avLst/>
          </a:prstGeom>
          <a:solidFill>
            <a:srgbClr val="D8DCE4">
              <a:alpha val="45000"/>
            </a:srgbClr>
          </a:solidFill>
          <a:ln w="12700">
            <a:solidFill>
              <a:srgbClr val="33415C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594360" y="3977640"/>
            <a:ext cx="6583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33415C"/>
                </a:solidFill>
              </a:rPr>
              <a:t>[insert screenshot 1: green end-to-end run with all stages]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6F3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2000" cy="1051560"/>
          </a:xfrm>
          <a:prstGeom prst="rect">
            <a:avLst/>
          </a:prstGeom>
          <a:solidFill>
            <a:srgbClr val="33415C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1051560"/>
            <a:ext cx="12192000" cy="45720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146304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</a:rPr>
              <a:t>Security Testing - OWASP WSTG v4.2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530352" y="749808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8DCE4"/>
                </a:solidFill>
              </a:rPr>
              <a:t>32 automated tests in tests/SecurityTesting/ (--group security)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02920" y="1417320"/>
            <a:ext cx="3703320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9050">
            <a:solidFill>
              <a:srgbClr val="5D6B7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67512" y="1508760"/>
            <a:ext cx="33741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3415C"/>
                </a:solidFill>
              </a:rPr>
              <a:t>4.4 ATHN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04088" y="1892808"/>
            <a:ext cx="3300984" cy="1124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27000" indent="-1270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32A33"/>
                </a:solidFill>
              </a:rPr>
              <a:t>401 without credentials</a:t>
            </a:r>
            <a:endParaRPr lang="en-US" sz="1050" dirty="0"/>
          </a:p>
          <a:p>
            <a:pPr marL="127000" indent="-1270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32A33"/>
                </a:solidFill>
              </a:rPr>
              <a:t>invalid token: no info leak</a:t>
            </a:r>
            <a:endParaRPr lang="en-US" sz="1050" dirty="0"/>
          </a:p>
          <a:p>
            <a:pPr marL="127000" indent="-1270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32A33"/>
                </a:solidFill>
              </a:rPr>
              <a:t>disabled account blocked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434840" y="1417320"/>
            <a:ext cx="3703320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9050">
            <a:solidFill>
              <a:srgbClr val="5D6B7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99432" y="1508760"/>
            <a:ext cx="33741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3415C"/>
                </a:solidFill>
              </a:rPr>
              <a:t>4.5 ATHZ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636008" y="1892808"/>
            <a:ext cx="3300984" cy="1124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27000" indent="-1270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32A33"/>
                </a:solidFill>
              </a:rPr>
              <a:t>IDOR read + modify denied</a:t>
            </a:r>
            <a:endParaRPr lang="en-US" sz="1050" dirty="0"/>
          </a:p>
          <a:p>
            <a:pPr marL="127000" indent="-1270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32A33"/>
                </a:solidFill>
              </a:rPr>
              <a:t>foreign profile denied</a:t>
            </a:r>
            <a:endParaRPr lang="en-US" sz="1050" dirty="0"/>
          </a:p>
          <a:p>
            <a:pPr marL="127000" indent="-1270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32A33"/>
                </a:solidFill>
              </a:rPr>
              <a:t>no privilege escalation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8366760" y="1417320"/>
            <a:ext cx="3703320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9050">
            <a:solidFill>
              <a:srgbClr val="5D6B7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531352" y="1508760"/>
            <a:ext cx="33741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3415C"/>
                </a:solidFill>
              </a:rPr>
              <a:t>4.6 SESS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567928" y="1892808"/>
            <a:ext cx="3300984" cy="1124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27000" indent="-1270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32A33"/>
                </a:solidFill>
              </a:rPr>
              <a:t>HttpOnly + SameSite=Lax</a:t>
            </a:r>
            <a:endParaRPr lang="en-US" sz="1050" dirty="0"/>
          </a:p>
          <a:p>
            <a:pPr marL="127000" indent="-1270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32A33"/>
                </a:solidFill>
              </a:rPr>
              <a:t>Secure flag behavior</a:t>
            </a:r>
            <a:endParaRPr lang="en-US" sz="1050" dirty="0"/>
          </a:p>
          <a:p>
            <a:pPr marL="127000" indent="-1270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32A33"/>
                </a:solidFill>
              </a:rPr>
              <a:t>cookie_secure=auto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02920" y="3246120"/>
            <a:ext cx="3703320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9050">
            <a:solidFill>
              <a:srgbClr val="5D6B7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67512" y="3337560"/>
            <a:ext cx="33741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3415C"/>
                </a:solidFill>
              </a:rPr>
              <a:t>4.7 INPV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704088" y="3721608"/>
            <a:ext cx="3300984" cy="1124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27000" indent="-1270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32A33"/>
                </a:solidFill>
              </a:rPr>
              <a:t>SQLi on 6 API endpoints</a:t>
            </a:r>
            <a:endParaRPr lang="en-US" sz="1050" dirty="0"/>
          </a:p>
          <a:p>
            <a:pPr marL="127000" indent="-1270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32A33"/>
                </a:solidFill>
              </a:rPr>
              <a:t>payloads stored inertly</a:t>
            </a:r>
            <a:endParaRPr lang="en-US" sz="1050" dirty="0"/>
          </a:p>
          <a:p>
            <a:pPr marL="127000" indent="-1270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32A33"/>
                </a:solidFill>
              </a:rPr>
              <a:t>stored XSS escaped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4434840" y="3246120"/>
            <a:ext cx="3703320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9050">
            <a:solidFill>
              <a:srgbClr val="5D6B7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599432" y="3337560"/>
            <a:ext cx="33741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3415C"/>
                </a:solidFill>
              </a:rPr>
              <a:t>4.8 ERRH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4636008" y="3721608"/>
            <a:ext cx="3300984" cy="1124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27000" indent="-1270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32A33"/>
                </a:solidFill>
              </a:rPr>
              <a:t>minimal 401/404 bodies</a:t>
            </a:r>
            <a:endParaRPr lang="en-US" sz="1050" dirty="0"/>
          </a:p>
          <a:p>
            <a:pPr marL="127000" indent="-1270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32A33"/>
                </a:solidFill>
              </a:rPr>
              <a:t>no stack traces</a:t>
            </a:r>
            <a:endParaRPr lang="en-US" sz="1050" dirty="0"/>
          </a:p>
          <a:p>
            <a:pPr marL="127000" indent="-1270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32A33"/>
                </a:solidFill>
              </a:rPr>
              <a:t>no debug routes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8366760" y="3246120"/>
            <a:ext cx="3703320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9050">
            <a:solidFill>
              <a:srgbClr val="5D6B7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531352" y="3337560"/>
            <a:ext cx="33741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3415C"/>
                </a:solidFill>
              </a:rPr>
              <a:t>4.2 CONF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8567928" y="3721608"/>
            <a:ext cx="3300984" cy="1124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27000" indent="-1270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32A33"/>
                </a:solidFill>
              </a:rPr>
              <a:t>login throttling on</a:t>
            </a:r>
            <a:endParaRPr lang="en-US" sz="1050" dirty="0"/>
          </a:p>
          <a:p>
            <a:pPr marL="127000" indent="-1270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32A33"/>
                </a:solidFill>
              </a:rPr>
              <a:t>login CSRF on</a:t>
            </a:r>
            <a:endParaRPr lang="en-US" sz="1050" dirty="0"/>
          </a:p>
          <a:p>
            <a:pPr marL="127000" indent="-1270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32A33"/>
                </a:solidFill>
              </a:rPr>
              <a:t>APP_DEBUG=0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7680960" y="5120640"/>
            <a:ext cx="3977640" cy="1234440"/>
          </a:xfrm>
          <a:prstGeom prst="rect">
            <a:avLst/>
          </a:prstGeom>
          <a:solidFill>
            <a:srgbClr val="D8DCE4">
              <a:alpha val="45000"/>
            </a:srgbClr>
          </a:solidFill>
          <a:ln w="12700">
            <a:solidFill>
              <a:srgbClr val="33415C"/>
            </a:solidFill>
            <a:prstDash val="dash"/>
          </a:ln>
        </p:spPr>
      </p:sp>
      <p:sp>
        <p:nvSpPr>
          <p:cNvPr id="26" name="Text 24"/>
          <p:cNvSpPr/>
          <p:nvPr/>
        </p:nvSpPr>
        <p:spPr>
          <a:xfrm>
            <a:off x="7772400" y="5120640"/>
            <a:ext cx="37947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33415C"/>
                </a:solidFill>
              </a:rPr>
              <a:t>[insert: phpunit OK (32 tests)]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6F3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2000" cy="1051560"/>
          </a:xfrm>
          <a:prstGeom prst="rect">
            <a:avLst/>
          </a:prstGeom>
          <a:solidFill>
            <a:srgbClr val="33415C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1051560"/>
            <a:ext cx="12192000" cy="45720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146304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</a:rPr>
              <a:t>Static Analysis &amp; Open Source Scanners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530352" y="749808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8DCE4"/>
                </a:solidFill>
              </a:rPr>
              <a:t>gating fails the build - audit informs triage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02920" y="1371600"/>
            <a:ext cx="5577840" cy="283464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25400">
            <a:solidFill>
              <a:srgbClr val="3A7D4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0" y="1481328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A7D44"/>
                </a:solidFill>
              </a:rPr>
              <a:t>GATING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31520" y="1920240"/>
            <a:ext cx="52120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27000" indent="-1270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232A33"/>
                </a:solidFill>
              </a:rPr>
              <a:t>Semgrep Kimai taint ruleset - 0 findings / 1047 files</a:t>
            </a:r>
            <a:endParaRPr lang="en-US" sz="1250" dirty="0"/>
          </a:p>
          <a:p>
            <a:pPr marL="127000" indent="-1270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232A33"/>
                </a:solidFill>
              </a:rPr>
              <a:t>PHPStan level 9 (src + tests)</a:t>
            </a:r>
            <a:endParaRPr lang="en-US" sz="1250" dirty="0"/>
          </a:p>
          <a:p>
            <a:pPr marL="127000" indent="-1270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232A33"/>
                </a:solidFill>
              </a:rPr>
              <a:t>composer audit + pnpm audit - clean</a:t>
            </a:r>
            <a:endParaRPr lang="en-US" sz="1250" dirty="0"/>
          </a:p>
          <a:p>
            <a:pPr marL="127000" indent="-1270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232A33"/>
                </a:solidFill>
              </a:rPr>
              <a:t>Trivy vulnerabilities + secrets (HIGH/CRITICAL)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263640" y="1371600"/>
            <a:ext cx="5577840" cy="283464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25400">
            <a:solidFill>
              <a:srgbClr val="5D6B7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46520" y="1481328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D6B7A"/>
                </a:solidFill>
              </a:rPr>
              <a:t>AUDIT (reported, no hard fail)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492240" y="1920240"/>
            <a:ext cx="52120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27000" indent="-1270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232A33"/>
                </a:solidFill>
              </a:rPr>
              <a:t>Semgrep p/php + p/security-audit packs</a:t>
            </a:r>
            <a:endParaRPr lang="en-US" sz="1250" dirty="0"/>
          </a:p>
          <a:p>
            <a:pPr marL="127000" indent="-1270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232A33"/>
                </a:solidFill>
              </a:rPr>
              <a:t>Trivy misconfig: 3 HIGH in upstream Dockerfile (no USER, no --no-install-recommends) - triaged</a:t>
            </a:r>
            <a:endParaRPr lang="en-US" sz="1250" dirty="0"/>
          </a:p>
          <a:p>
            <a:pPr marL="127000" indent="-1270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232A33"/>
                </a:solidFill>
              </a:rPr>
              <a:t>OWASP Dependency-Check (experimental PHP analyzer)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02920" y="4434840"/>
            <a:ext cx="6583680" cy="1920240"/>
          </a:xfrm>
          <a:prstGeom prst="rect">
            <a:avLst/>
          </a:prstGeom>
          <a:solidFill>
            <a:srgbClr val="D8DCE4">
              <a:alpha val="45000"/>
            </a:srgbClr>
          </a:solidFill>
          <a:ln w="12700">
            <a:solidFill>
              <a:srgbClr val="33415C"/>
            </a:solidFill>
            <a:prstDash val="dash"/>
          </a:ln>
        </p:spPr>
      </p:sp>
      <p:sp>
        <p:nvSpPr>
          <p:cNvPr id="14" name="Text 12"/>
          <p:cNvSpPr/>
          <p:nvPr/>
        </p:nvSpPr>
        <p:spPr>
          <a:xfrm>
            <a:off x="594360" y="4434840"/>
            <a:ext cx="64008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33415C"/>
                </a:solidFill>
              </a:rPr>
              <a:t>[insert: semgrep scan / composer audit terminal]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6F3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2000" cy="1051560"/>
          </a:xfrm>
          <a:prstGeom prst="rect">
            <a:avLst/>
          </a:prstGeom>
          <a:solidFill>
            <a:srgbClr val="33415C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1051560"/>
            <a:ext cx="12192000" cy="45720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146304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</a:rPr>
              <a:t>Automated Secure Deployment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530352" y="749808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8DCE4"/>
                </a:solidFill>
              </a:rPr>
              <a:t>deploy.sh: certs - persistent secrets - build - compose - migrations - readiness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02920" y="1417320"/>
            <a:ext cx="2834640" cy="1143000"/>
          </a:xfrm>
          <a:prstGeom prst="roundRect">
            <a:avLst>
              <a:gd name="adj" fmla="val 9600"/>
            </a:avLst>
          </a:prstGeom>
          <a:solidFill>
            <a:srgbClr val="33415C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1536192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NGINX :443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40080" y="1901952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8DCE4"/>
                </a:solidFill>
              </a:rPr>
              <a:t>TLS 1.2/1.3, HSTS, headers, rate limit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337560" y="1783080"/>
            <a:ext cx="256032" cy="365760"/>
          </a:xfrm>
          <a:prstGeom prst="rightArrow">
            <a:avLst/>
          </a:prstGeom>
          <a:solidFill>
            <a:srgbClr val="5D6B7A"/>
          </a:solidFill>
          <a:ln/>
        </p:spPr>
      </p:sp>
      <p:sp>
        <p:nvSpPr>
          <p:cNvPr id="11" name="Shape 9"/>
          <p:cNvSpPr/>
          <p:nvPr/>
        </p:nvSpPr>
        <p:spPr>
          <a:xfrm>
            <a:off x="3593592" y="1417320"/>
            <a:ext cx="2834640" cy="1143000"/>
          </a:xfrm>
          <a:prstGeom prst="roundRect">
            <a:avLst>
              <a:gd name="adj" fmla="val 9600"/>
            </a:avLst>
          </a:prstGeom>
          <a:solidFill>
            <a:srgbClr val="33415C"/>
          </a:solidFill>
          <a:ln/>
        </p:spPr>
      </p:sp>
      <p:sp>
        <p:nvSpPr>
          <p:cNvPr id="12" name="Text 10"/>
          <p:cNvSpPr/>
          <p:nvPr/>
        </p:nvSpPr>
        <p:spPr>
          <a:xfrm>
            <a:off x="3730752" y="1536192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APP :8001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730752" y="1901952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8DCE4"/>
                </a:solidFill>
              </a:rPr>
              <a:t>Apache+PHP, APP_DEBUG=0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428232" y="1783080"/>
            <a:ext cx="256032" cy="365760"/>
          </a:xfrm>
          <a:prstGeom prst="rightArrow">
            <a:avLst/>
          </a:prstGeom>
          <a:solidFill>
            <a:srgbClr val="5D6B7A"/>
          </a:solidFill>
          <a:ln/>
        </p:spPr>
      </p:sp>
      <p:sp>
        <p:nvSpPr>
          <p:cNvPr id="15" name="Shape 13"/>
          <p:cNvSpPr/>
          <p:nvPr/>
        </p:nvSpPr>
        <p:spPr>
          <a:xfrm>
            <a:off x="6684264" y="1417320"/>
            <a:ext cx="2834640" cy="1143000"/>
          </a:xfrm>
          <a:prstGeom prst="roundRect">
            <a:avLst>
              <a:gd name="adj" fmla="val 9600"/>
            </a:avLst>
          </a:prstGeom>
          <a:solidFill>
            <a:srgbClr val="33415C"/>
          </a:solidFill>
          <a:ln/>
        </p:spPr>
      </p:sp>
      <p:sp>
        <p:nvSpPr>
          <p:cNvPr id="16" name="Text 14"/>
          <p:cNvSpPr/>
          <p:nvPr/>
        </p:nvSpPr>
        <p:spPr>
          <a:xfrm>
            <a:off x="6821424" y="1536192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MariaDB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821424" y="1901952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8DCE4"/>
                </a:solidFill>
              </a:rPr>
              <a:t>internal network only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548640" y="2834640"/>
            <a:ext cx="8686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27000" indent="-1270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32A33"/>
                </a:solidFill>
              </a:rPr>
              <a:t>Hardening: no-new-privileges, read-only nginx + minimal caps, sensitive-path denies, login rate limiting</a:t>
            </a:r>
            <a:endParaRPr lang="en-US" sz="1300" dirty="0"/>
          </a:p>
          <a:p>
            <a:pPr marL="127000" indent="-1270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32A33"/>
                </a:solidFill>
              </a:rPr>
              <a:t>Secrets: random per environment, persisted off the CI-wiped checkout (/opt/kimai/devsecops-deploy)</a:t>
            </a:r>
            <a:endParaRPr lang="en-US" sz="1300" dirty="0"/>
          </a:p>
          <a:p>
            <a:pPr marL="127000" indent="-1270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32A33"/>
                </a:solidFill>
              </a:rPr>
              <a:t>CSP in Report-Only mode - deliberate trade-off for inline frontend assets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502920" y="4343400"/>
            <a:ext cx="6583680" cy="2011680"/>
          </a:xfrm>
          <a:prstGeom prst="rect">
            <a:avLst/>
          </a:prstGeom>
          <a:solidFill>
            <a:srgbClr val="D8DCE4">
              <a:alpha val="45000"/>
            </a:srgbClr>
          </a:solidFill>
          <a:ln w="12700">
            <a:solidFill>
              <a:srgbClr val="33415C"/>
            </a:solidFill>
            <a:prstDash val="dash"/>
          </a:ln>
        </p:spPr>
      </p:sp>
      <p:sp>
        <p:nvSpPr>
          <p:cNvPr id="20" name="Text 18"/>
          <p:cNvSpPr/>
          <p:nvPr/>
        </p:nvSpPr>
        <p:spPr>
          <a:xfrm>
            <a:off x="594360" y="4343400"/>
            <a:ext cx="64008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33415C"/>
                </a:solidFill>
              </a:rPr>
              <a:t>[insert: Deployment finished + browser login at https://localhost:8443]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6F3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2000" cy="1051560"/>
          </a:xfrm>
          <a:prstGeom prst="rect">
            <a:avLst/>
          </a:prstGeom>
          <a:solidFill>
            <a:srgbClr val="33415C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1051560"/>
            <a:ext cx="12192000" cy="45720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146304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</a:rPr>
              <a:t>Post-Deployment Validation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530352" y="749808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8DCE4"/>
                </a:solidFill>
              </a:rPr>
              <a:t>automated checks gate every deployment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02920" y="1463040"/>
            <a:ext cx="26517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25400">
            <a:solidFill>
              <a:srgbClr val="3A7D4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02920" y="1572768"/>
            <a:ext cx="2651760" cy="9555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3A7D44"/>
                </a:solidFill>
              </a:rPr>
              <a:t>4/4</a:t>
            </a:r>
            <a:endParaRPr lang="en-US" sz="3600" dirty="0"/>
          </a:p>
        </p:txBody>
      </p:sp>
      <p:sp>
        <p:nvSpPr>
          <p:cNvPr id="9" name="Text 7"/>
          <p:cNvSpPr/>
          <p:nvPr/>
        </p:nvSpPr>
        <p:spPr>
          <a:xfrm>
            <a:off x="576072" y="2540203"/>
            <a:ext cx="2505456" cy="5907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32A33"/>
                </a:solidFill>
              </a:rPr>
              <a:t>smoke test PASS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383280" y="1463040"/>
            <a:ext cx="26517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25400">
            <a:solidFill>
              <a:srgbClr val="3A7D4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383280" y="1572768"/>
            <a:ext cx="2651760" cy="9555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3A7D44"/>
                </a:solidFill>
              </a:rPr>
              <a:t>22/22</a:t>
            </a:r>
            <a:endParaRPr lang="en-US" sz="3600" dirty="0"/>
          </a:p>
        </p:txBody>
      </p:sp>
      <p:sp>
        <p:nvSpPr>
          <p:cNvPr id="12" name="Text 10"/>
          <p:cNvSpPr/>
          <p:nvPr/>
        </p:nvSpPr>
        <p:spPr>
          <a:xfrm>
            <a:off x="3456432" y="2540203"/>
            <a:ext cx="2505456" cy="5907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32A33"/>
                </a:solidFill>
              </a:rPr>
              <a:t>config audit PASS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263640" y="1463040"/>
            <a:ext cx="26517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25400">
            <a:solidFill>
              <a:srgbClr val="3A7D4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263640" y="1572768"/>
            <a:ext cx="2651760" cy="9555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3A7D44"/>
                </a:solidFill>
              </a:rPr>
              <a:t>ZAP</a:t>
            </a:r>
            <a:endParaRPr lang="en-US" sz="3600" dirty="0"/>
          </a:p>
        </p:txBody>
      </p:sp>
      <p:sp>
        <p:nvSpPr>
          <p:cNvPr id="15" name="Text 13"/>
          <p:cNvSpPr/>
          <p:nvPr/>
        </p:nvSpPr>
        <p:spPr>
          <a:xfrm>
            <a:off x="6336792" y="2540203"/>
            <a:ext cx="2505456" cy="5907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32A33"/>
                </a:solidFill>
              </a:rPr>
              <a:t>baseline PASS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9144000" y="1463040"/>
            <a:ext cx="26517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25400">
            <a:solidFill>
              <a:srgbClr val="3A7D4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44000" y="1572768"/>
            <a:ext cx="2651760" cy="9555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3A7D44"/>
                </a:solidFill>
              </a:rPr>
              <a:t>0</a:t>
            </a:r>
            <a:endParaRPr lang="en-US" sz="3600" dirty="0"/>
          </a:p>
        </p:txBody>
      </p:sp>
      <p:sp>
        <p:nvSpPr>
          <p:cNvPr id="18" name="Text 16"/>
          <p:cNvSpPr/>
          <p:nvPr/>
        </p:nvSpPr>
        <p:spPr>
          <a:xfrm>
            <a:off x="9217152" y="2540203"/>
            <a:ext cx="2505456" cy="5907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32A33"/>
                </a:solidFill>
              </a:rPr>
              <a:t>HIGH/CRITICAL in lockfiles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548640" y="3429000"/>
            <a:ext cx="10972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27000" indent="-1270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232A33"/>
                </a:solidFill>
              </a:rPr>
              <a:t>smoke: HTTPS 200, content marker, HTTP-&gt;HTTPS 301, API 401 unauthenticated</a:t>
            </a:r>
            <a:endParaRPr lang="en-US" sz="1300" dirty="0"/>
          </a:p>
          <a:p>
            <a:pPr marL="127000" indent="-1270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232A33"/>
                </a:solidFill>
              </a:rPr>
              <a:t>audit: HSTS, cookie flags incl. Secure, TLS 1.0/1.1 rejected, TRACE 405, sensitive paths blocked, no debug leakage</a:t>
            </a:r>
            <a:endParaRPr lang="en-US" sz="1300" dirty="0"/>
          </a:p>
          <a:p>
            <a:pPr marL="127000" indent="-1270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232A33"/>
                </a:solidFill>
              </a:rPr>
              <a:t>OWASP ZAP baseline passive DAST - FAIL alerts gate the build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02920" y="4892040"/>
            <a:ext cx="6583680" cy="1508760"/>
          </a:xfrm>
          <a:prstGeom prst="rect">
            <a:avLst/>
          </a:prstGeom>
          <a:solidFill>
            <a:srgbClr val="D8DCE4">
              <a:alpha val="45000"/>
            </a:srgbClr>
          </a:solidFill>
          <a:ln w="12700">
            <a:solidFill>
              <a:srgbClr val="33415C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594360" y="4892040"/>
            <a:ext cx="640080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33415C"/>
                </a:solidFill>
              </a:rPr>
              <a:t>[insert: smoke-test + security-audit PASS output]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6F3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2000" cy="1051560"/>
          </a:xfrm>
          <a:prstGeom prst="rect">
            <a:avLst/>
          </a:prstGeom>
          <a:solidFill>
            <a:srgbClr val="33415C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1051560"/>
            <a:ext cx="12192000" cy="45720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146304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</a:rPr>
              <a:t>Bug Report &amp; Responsible Disclosure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530352" y="749808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8DCE4"/>
                </a:solidFill>
              </a:rPr>
              <a:t>private advisory - PoC - triage - regression-tested fix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02920" y="1371600"/>
            <a:ext cx="6949440" cy="2743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5400">
            <a:solidFill>
              <a:srgbClr val="9E2B2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0" y="1481328"/>
            <a:ext cx="6583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9E2B25"/>
                </a:solidFill>
              </a:rPr>
              <a:t>GHSA-pvc4-crg3-gj44 (triaged)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31520" y="1920240"/>
            <a:ext cx="658368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27000" indent="-1270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32A33"/>
                </a:solidFill>
              </a:rPr>
              <a:t>Missing authorization on project view export - any ROLE_USER could download the project overview XLSX</a:t>
            </a:r>
            <a:endParaRPr lang="en-US" sz="1200" dirty="0"/>
          </a:p>
          <a:p>
            <a:pPr marL="127000" indent="-1270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32A33"/>
                </a:solidFill>
              </a:rPr>
              <a:t>Root cause: method-level guards instead of class-level (only reporting controller structured that way)</a:t>
            </a:r>
            <a:endParaRPr lang="en-US" sz="1200" dirty="0"/>
          </a:p>
          <a:p>
            <a:pPr marL="127000" indent="-1270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32A33"/>
                </a:solidFill>
              </a:rPr>
              <a:t>Fix: both IsGranted attributes moved to class level + 4 regression tests (verified failing without the fix)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7726680" y="1371600"/>
            <a:ext cx="3931920" cy="2743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C9A22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909560" y="1481328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9A227"/>
                </a:solidFill>
              </a:rPr>
              <a:t>Lesson learned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7909560" y="1920240"/>
            <a:ext cx="35661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32A33"/>
                </a:solidFill>
              </a:rPr>
              <a:t>GHSA-pjrx-mwv9-j9vf was rejected: documented behavior, super-admin-only by default. Verify the documented threat model before filing.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02920" y="4343400"/>
            <a:ext cx="6949440" cy="2011680"/>
          </a:xfrm>
          <a:prstGeom prst="rect">
            <a:avLst/>
          </a:prstGeom>
          <a:solidFill>
            <a:srgbClr val="D8DCE4">
              <a:alpha val="45000"/>
            </a:srgbClr>
          </a:solidFill>
          <a:ln w="12700">
            <a:solidFill>
              <a:srgbClr val="33415C"/>
            </a:solidFill>
            <a:prstDash val="dash"/>
          </a:ln>
        </p:spPr>
      </p:sp>
      <p:sp>
        <p:nvSpPr>
          <p:cNvPr id="14" name="Text 12"/>
          <p:cNvSpPr/>
          <p:nvPr/>
        </p:nvSpPr>
        <p:spPr>
          <a:xfrm>
            <a:off x="594360" y="4343400"/>
            <a:ext cx="67665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33415C"/>
                </a:solidFill>
              </a:rPr>
              <a:t>[insert: advisory thread (redacted) + fix PR with green checks]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6F3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2000" cy="1051560"/>
          </a:xfrm>
          <a:prstGeom prst="rect">
            <a:avLst/>
          </a:prstGeom>
          <a:solidFill>
            <a:srgbClr val="33415C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1051560"/>
            <a:ext cx="12192000" cy="45720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146304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</a:rPr>
              <a:t>Developer Notification, Collaboration &amp; Reuse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530352" y="749808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8DCE4"/>
                </a:solidFill>
              </a:rPr>
              <a:t>built so the maintainers can adopt it unchanged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02920" y="1417320"/>
            <a:ext cx="5486400" cy="2377440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19050">
            <a:solidFill>
              <a:srgbClr val="33415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67512" y="1508760"/>
            <a:ext cx="51572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3415C"/>
                </a:solidFill>
              </a:rPr>
              <a:t>Notification flow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04088" y="1892808"/>
            <a:ext cx="5084064" cy="1810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27000" indent="-1270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32A33"/>
                </a:solidFill>
              </a:rPr>
              <a:t>failure or finding -&gt; notify job</a:t>
            </a:r>
            <a:endParaRPr lang="en-US" sz="1050" dirty="0"/>
          </a:p>
          <a:p>
            <a:pPr marL="127000" indent="-1270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32A33"/>
                </a:solidFill>
              </a:rPr>
              <a:t>search open 'devsecops' issues first</a:t>
            </a:r>
            <a:endParaRPr lang="en-US" sz="1050" dirty="0"/>
          </a:p>
          <a:p>
            <a:pPr marL="127000" indent="-1270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32A33"/>
                </a:solidFill>
              </a:rPr>
              <a:t>comment on existing issue (de-dupe)</a:t>
            </a:r>
            <a:endParaRPr lang="en-US" sz="1050" dirty="0"/>
          </a:p>
          <a:p>
            <a:pPr marL="127000" indent="-1270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32A33"/>
                </a:solidFill>
              </a:rPr>
              <a:t>otherwise create labeled issue</a:t>
            </a:r>
            <a:endParaRPr lang="en-US" sz="1050" dirty="0"/>
          </a:p>
          <a:p>
            <a:pPr marL="127000" indent="-1270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32A33"/>
                </a:solidFill>
              </a:rPr>
              <a:t>optional Slack/Discord webhook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6217920" y="1417320"/>
            <a:ext cx="5486400" cy="2377440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19050">
            <a:solidFill>
              <a:srgbClr val="3A7D4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382512" y="1508760"/>
            <a:ext cx="51572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3415C"/>
                </a:solidFill>
              </a:rPr>
              <a:t>Reuse story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419088" y="1892808"/>
            <a:ext cx="5084064" cy="1810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27000" indent="-1270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32A33"/>
                </a:solidFill>
              </a:rPr>
              <a:t>SAST identical to upstream linting.yaml</a:t>
            </a:r>
            <a:endParaRPr lang="en-US" sz="1050" dirty="0"/>
          </a:p>
          <a:p>
            <a:pPr marL="127000" indent="-1270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32A33"/>
                </a:solidFill>
              </a:rPr>
              <a:t>same MariaDB service + test bootstrap as testing.yaml</a:t>
            </a:r>
            <a:endParaRPr lang="en-US" sz="1050" dirty="0"/>
          </a:p>
          <a:p>
            <a:pPr marL="127000" indent="-1270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32A33"/>
                </a:solidFill>
              </a:rPr>
              <a:t>deployment uses the repository Dockerfile</a:t>
            </a:r>
            <a:endParaRPr lang="en-US" sz="1050" dirty="0"/>
          </a:p>
          <a:p>
            <a:pPr marL="127000" indent="-1270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32A33"/>
                </a:solidFill>
              </a:rPr>
              <a:t>regression tests inside existing test classes</a:t>
            </a:r>
            <a:endParaRPr lang="en-US" sz="1050" dirty="0"/>
          </a:p>
          <a:p>
            <a:pPr marL="127000" indent="-1270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32A33"/>
                </a:solidFill>
              </a:rPr>
              <a:t>tests run via the project's composer scripts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02920" y="4069080"/>
            <a:ext cx="6583680" cy="2286000"/>
          </a:xfrm>
          <a:prstGeom prst="rect">
            <a:avLst/>
          </a:prstGeom>
          <a:solidFill>
            <a:srgbClr val="D8DCE4">
              <a:alpha val="45000"/>
            </a:srgbClr>
          </a:solidFill>
          <a:ln w="12700">
            <a:solidFill>
              <a:srgbClr val="33415C"/>
            </a:solidFill>
            <a:prstDash val="dash"/>
          </a:ln>
        </p:spPr>
      </p:sp>
      <p:sp>
        <p:nvSpPr>
          <p:cNvPr id="14" name="Text 12"/>
          <p:cNvSpPr/>
          <p:nvPr/>
        </p:nvSpPr>
        <p:spPr>
          <a:xfrm>
            <a:off x="594360" y="4069080"/>
            <a:ext cx="64008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33415C"/>
                </a:solidFill>
              </a:rPr>
              <a:t>[insert: notification issue + maintainer/reuse evidence (redacted)]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F2A44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0292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</a:rPr>
              <a:t>Maintenance, Lessons Learned &amp; Conclusion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0" y="1325880"/>
            <a:ext cx="12192000" cy="45720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" y="1600200"/>
            <a:ext cx="1060704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D8DCE4"/>
                </a:solidFill>
              </a:rPr>
              <a:t>Gating security rules need ~zero false positives - one Semgrep false positive triaged and annotated</a:t>
            </a:r>
            <a:endParaRPr lang="en-US" sz="1500" dirty="0"/>
          </a:p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D8DCE4"/>
                </a:solidFill>
              </a:rPr>
              <a:t>Gating vs audit: Trivy misconfig must inform, not hard-fail (upstream Dockerfile findings)</a:t>
            </a:r>
            <a:endParaRPr lang="en-US" sz="1500" dirty="0"/>
          </a:p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D8DCE4"/>
                </a:solidFill>
              </a:rPr>
              <a:t>Pipelines are hardened against their real environment - six runner failure classes found via live logs and fixed</a:t>
            </a:r>
            <a:endParaRPr lang="en-US" sz="1500" dirty="0"/>
          </a:p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D8DCE4"/>
                </a:solidFill>
              </a:rPr>
              <a:t>Read the documented threat model before filing (rejected advisory)</a:t>
            </a:r>
            <a:endParaRPr lang="en-US" sz="1500" dirty="0"/>
          </a:p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D8DCE4"/>
                </a:solidFill>
              </a:rPr>
              <a:t>Reuse beats novelty: upstream conventions made every review conversation easy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777240" y="4434840"/>
            <a:ext cx="2377440" cy="164592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25400">
            <a:solidFill>
              <a:srgbClr val="3A7D4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4544568"/>
            <a:ext cx="2377440" cy="905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3A7D44"/>
                </a:solidFill>
              </a:rPr>
              <a:t>100%</a:t>
            </a:r>
            <a:endParaRPr lang="en-US" sz="3600" dirty="0"/>
          </a:p>
        </p:txBody>
      </p:sp>
      <p:sp>
        <p:nvSpPr>
          <p:cNvPr id="8" name="Text 6"/>
          <p:cNvSpPr/>
          <p:nvPr/>
        </p:nvSpPr>
        <p:spPr>
          <a:xfrm>
            <a:off x="850392" y="5455310"/>
            <a:ext cx="2231136" cy="5596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32A33"/>
                </a:solidFill>
              </a:rPr>
              <a:t>on-premise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383280" y="4434840"/>
            <a:ext cx="2377440" cy="164592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25400">
            <a:solidFill>
              <a:srgbClr val="3A7D4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383280" y="4544568"/>
            <a:ext cx="2377440" cy="905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3A7D44"/>
                </a:solidFill>
              </a:rPr>
              <a:t>32</a:t>
            </a:r>
            <a:endParaRPr lang="en-US" sz="3600" dirty="0"/>
          </a:p>
        </p:txBody>
      </p:sp>
      <p:sp>
        <p:nvSpPr>
          <p:cNvPr id="11" name="Text 9"/>
          <p:cNvSpPr/>
          <p:nvPr/>
        </p:nvSpPr>
        <p:spPr>
          <a:xfrm>
            <a:off x="3456432" y="5455310"/>
            <a:ext cx="2231136" cy="5596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32A33"/>
                </a:solidFill>
              </a:rPr>
              <a:t>WSTG tests green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989320" y="4434840"/>
            <a:ext cx="2377440" cy="164592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25400">
            <a:solidFill>
              <a:srgbClr val="3A7D4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989320" y="4544568"/>
            <a:ext cx="2377440" cy="905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3A7D44"/>
                </a:solidFill>
              </a:rPr>
              <a:t>22/22</a:t>
            </a:r>
            <a:endParaRPr lang="en-US" sz="3600" dirty="0"/>
          </a:p>
        </p:txBody>
      </p:sp>
      <p:sp>
        <p:nvSpPr>
          <p:cNvPr id="14" name="Text 12"/>
          <p:cNvSpPr/>
          <p:nvPr/>
        </p:nvSpPr>
        <p:spPr>
          <a:xfrm>
            <a:off x="6062472" y="5455310"/>
            <a:ext cx="2231136" cy="5596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32A33"/>
                </a:solidFill>
              </a:rPr>
              <a:t>hardening checks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8595360" y="4434840"/>
            <a:ext cx="2377440" cy="164592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25400">
            <a:solidFill>
              <a:srgbClr val="9E2B2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595360" y="4544568"/>
            <a:ext cx="2377440" cy="905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E2B25"/>
                </a:solidFill>
              </a:rPr>
              <a:t>1</a:t>
            </a:r>
            <a:endParaRPr lang="en-US" sz="3600" dirty="0"/>
          </a:p>
        </p:txBody>
      </p:sp>
      <p:sp>
        <p:nvSpPr>
          <p:cNvPr id="17" name="Text 15"/>
          <p:cNvSpPr/>
          <p:nvPr/>
        </p:nvSpPr>
        <p:spPr>
          <a:xfrm>
            <a:off x="8668512" y="5455310"/>
            <a:ext cx="2231136" cy="5596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32A33"/>
                </a:solidFill>
              </a:rPr>
              <a:t>triaged bug + fix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777240" y="630936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8DCE4"/>
                </a:solidFill>
              </a:rPr>
              <a:t>Future: enforcing CSP, authenticated ZAP scans, SAML/LDAP coverage, promote audit scanners to gating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Automated Cybersecurity Testing &amp; DevSecOps Integration</dc:title>
  <dc:subject>PptxGenJS Presentation</dc:subject>
  <dc:creator>DevSecOps Project</dc:creator>
  <cp:lastModifiedBy>DevSecOps Project</cp:lastModifiedBy>
  <cp:revision>1</cp:revision>
  <dcterms:created xsi:type="dcterms:W3CDTF">2026-08-02T22:49:20Z</dcterms:created>
  <dcterms:modified xsi:type="dcterms:W3CDTF">2026-08-02T22:49:20Z</dcterms:modified>
</cp:coreProperties>
</file>